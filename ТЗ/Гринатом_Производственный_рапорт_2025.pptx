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61" r:id="rId4"/>
    <p:sldId id="262" r:id="rId5"/>
    <p:sldId id="263" r:id="rId6"/>
    <p:sldId id="260" r:id="rId7"/>
    <p:sldId id="264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300" autoAdjust="0"/>
  </p:normalViewPr>
  <p:slideViewPr>
    <p:cSldViewPr snapToGrid="0">
      <p:cViewPr varScale="1">
        <p:scale>
          <a:sx n="81" d="100"/>
          <a:sy n="81" d="100"/>
        </p:scale>
        <p:origin x="9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5" d="100"/>
          <a:sy n="45" d="100"/>
        </p:scale>
        <p:origin x="180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6ABD2-A064-4891-9E46-C4B1C6BD4F03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9DBC1-BCC3-44F8-9524-797DB411B5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5086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B405E-C778-4FCD-8D34-54178B9A0409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24F62-48F7-445E-81E0-75F6056346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387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D1AB-B601-4F83-A532-D893418D20EB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8C16-90FF-40A4-9055-AF5412744CA1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282700" y="2785002"/>
            <a:ext cx="9144000" cy="1663654"/>
          </a:xfrm>
        </p:spPr>
        <p:txBody>
          <a:bodyPr anchor="b">
            <a:normAutofit/>
          </a:bodyPr>
          <a:lstStyle>
            <a:lvl1pPr algn="ctr">
              <a:defRPr sz="5400" baseline="0"/>
            </a:lvl1pPr>
          </a:lstStyle>
          <a:p>
            <a:r>
              <a:rPr lang="ru-RU" dirty="0"/>
              <a:t>Кейс </a:t>
            </a:r>
            <a:r>
              <a:rPr lang="en-US" dirty="0"/>
              <a:t>#</a:t>
            </a:r>
            <a:r>
              <a:rPr lang="ru-RU" dirty="0"/>
              <a:t>1 «Разработка дугового реактора Тони Старка»</a:t>
            </a:r>
          </a:p>
        </p:txBody>
      </p:sp>
      <p:sp>
        <p:nvSpPr>
          <p:cNvPr id="11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282700" y="4595758"/>
            <a:ext cx="9144000" cy="73319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ООО «</a:t>
            </a:r>
            <a:r>
              <a:rPr lang="ru-RU" dirty="0" err="1"/>
              <a:t>СтаркИндастриз</a:t>
            </a:r>
            <a:r>
              <a:rPr lang="ru-RU" dirty="0"/>
              <a:t>»</a:t>
            </a:r>
          </a:p>
        </p:txBody>
      </p:sp>
      <p:sp>
        <p:nvSpPr>
          <p:cNvPr id="13" name="Овал 12"/>
          <p:cNvSpPr/>
          <p:nvPr userDrawn="1"/>
        </p:nvSpPr>
        <p:spPr>
          <a:xfrm>
            <a:off x="9446814" y="4301553"/>
            <a:ext cx="2171700" cy="21717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29" y="4774640"/>
            <a:ext cx="1570571" cy="147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68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5500" y="500062"/>
            <a:ext cx="10515600" cy="1325563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5500" y="1915318"/>
            <a:ext cx="10515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D1AB-B601-4F83-A532-D893418D20EB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8C16-90FF-40A4-9055-AF5412744CA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64C0269-F79F-4D69-A0CF-18AE8E531F18}"/>
              </a:ext>
            </a:extLst>
          </p:cNvPr>
          <p:cNvSpPr/>
          <p:nvPr userDrawn="1"/>
        </p:nvSpPr>
        <p:spPr>
          <a:xfrm>
            <a:off x="437745" y="365126"/>
            <a:ext cx="11371634" cy="6127748"/>
          </a:xfrm>
          <a:prstGeom prst="roundRect">
            <a:avLst>
              <a:gd name="adj" fmla="val 7301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19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D1AB-B601-4F83-A532-D893418D20EB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8C16-90FF-40A4-9055-AF5412744CA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47F037FA-A2E3-41C2-9C6A-5256FF3091EA}"/>
              </a:ext>
            </a:extLst>
          </p:cNvPr>
          <p:cNvSpPr/>
          <p:nvPr userDrawn="1"/>
        </p:nvSpPr>
        <p:spPr>
          <a:xfrm>
            <a:off x="437745" y="501650"/>
            <a:ext cx="11371634" cy="5854700"/>
          </a:xfrm>
          <a:prstGeom prst="roundRect">
            <a:avLst>
              <a:gd name="adj" fmla="val 7301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7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380999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77000" y="1825624"/>
            <a:ext cx="4876800" cy="409537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D1AB-B601-4F83-A532-D893418D20EB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8C16-90FF-40A4-9055-AF5412744CA1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C652BB6-4223-415F-B2F0-046B85289ACE}"/>
              </a:ext>
            </a:extLst>
          </p:cNvPr>
          <p:cNvSpPr/>
          <p:nvPr userDrawn="1"/>
        </p:nvSpPr>
        <p:spPr>
          <a:xfrm>
            <a:off x="380999" y="1783624"/>
            <a:ext cx="5334001" cy="4709249"/>
          </a:xfrm>
          <a:prstGeom prst="roundRect">
            <a:avLst>
              <a:gd name="adj" fmla="val 7301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7DE335B-E312-4DBF-AA3A-FBB51E314068}"/>
              </a:ext>
            </a:extLst>
          </p:cNvPr>
          <p:cNvSpPr/>
          <p:nvPr userDrawn="1"/>
        </p:nvSpPr>
        <p:spPr>
          <a:xfrm>
            <a:off x="6477000" y="1783623"/>
            <a:ext cx="5334001" cy="4709249"/>
          </a:xfrm>
          <a:prstGeom prst="roundRect">
            <a:avLst>
              <a:gd name="adj" fmla="val 7301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448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D1AB-B601-4F83-A532-D893418D20EB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8C16-90FF-40A4-9055-AF5412744C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67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D1AB-B601-4F83-A532-D893418D20EB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8C16-90FF-40A4-9055-AF5412744C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448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D1AB-B601-4F83-A532-D893418D20EB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8C16-90FF-40A4-9055-AF5412744C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80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D1AB-B601-4F83-A532-D893418D20EB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8C16-90FF-40A4-9055-AF5412744C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590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D1AB-B601-4F83-A532-D893418D20EB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8C16-90FF-40A4-9055-AF5412744C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7673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D1AB-B601-4F83-A532-D893418D20EB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8C16-90FF-40A4-9055-AF5412744C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50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D1AB-B601-4F83-A532-D893418D20EB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8C16-90FF-40A4-9055-AF5412744C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141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6D1AB-B601-4F83-A532-D893418D20EB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8C16-90FF-40A4-9055-AF5412744C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444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85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6D1AB-B601-4F83-A532-D893418D20EB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B8C16-90FF-40A4-9055-AF5412744C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307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844764"/>
            <a:ext cx="9144000" cy="2387600"/>
          </a:xfrm>
        </p:spPr>
        <p:txBody>
          <a:bodyPr/>
          <a:lstStyle/>
          <a:p>
            <a:r>
              <a:rPr lang="ru-RU" dirty="0"/>
              <a:t>Кейс </a:t>
            </a:r>
            <a:r>
              <a:rPr lang="en-US" dirty="0"/>
              <a:t>#1 </a:t>
            </a:r>
            <a:r>
              <a:rPr lang="ru-RU" dirty="0"/>
              <a:t>Производственный рапорт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4294967295"/>
          </p:nvPr>
        </p:nvSpPr>
        <p:spPr>
          <a:xfrm>
            <a:off x="1524000" y="4484764"/>
            <a:ext cx="9144000" cy="541945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/>
              <a:t>Филиал АО «</a:t>
            </a:r>
            <a:r>
              <a:rPr lang="ru-RU" dirty="0" err="1"/>
              <a:t>Гринатом</a:t>
            </a:r>
            <a:r>
              <a:rPr lang="ru-RU" dirty="0"/>
              <a:t>» в </a:t>
            </a:r>
            <a:r>
              <a:rPr lang="ru-RU" dirty="0" err="1"/>
              <a:t>г.Новоуральске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587"/>
          <a:stretch/>
        </p:blipFill>
        <p:spPr>
          <a:xfrm>
            <a:off x="3638470" y="500488"/>
            <a:ext cx="5564586" cy="1218076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66275" y="5026709"/>
            <a:ext cx="1873250" cy="7454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3398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>
                <a:solidFill>
                  <a:srgbClr val="0070C0"/>
                </a:solidFill>
              </a:rPr>
              <a:t>Кейсодержатель</a:t>
            </a:r>
            <a:br>
              <a:rPr lang="ru-RU" dirty="0"/>
            </a:br>
            <a:r>
              <a:rPr lang="ru-RU" dirty="0"/>
              <a:t>АО «</a:t>
            </a:r>
            <a:r>
              <a:rPr lang="ru-RU"/>
              <a:t>Гринатом</a:t>
            </a:r>
            <a:r>
              <a:rPr lang="ru-RU" dirty="0"/>
              <a:t>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87900" y="2169318"/>
            <a:ext cx="6553200" cy="4097338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ru-RU" dirty="0"/>
              <a:t>Информационные технологии:</a:t>
            </a:r>
          </a:p>
          <a:p>
            <a:pPr lvl="1"/>
            <a:r>
              <a:rPr lang="ru-RU" dirty="0"/>
              <a:t>ИТ-поддержка более 270 предприятий</a:t>
            </a:r>
            <a:br>
              <a:rPr lang="ru-RU" dirty="0"/>
            </a:br>
            <a:r>
              <a:rPr lang="ru-RU" dirty="0" err="1"/>
              <a:t>Госкорпорации</a:t>
            </a:r>
            <a:r>
              <a:rPr lang="ru-RU" dirty="0"/>
              <a:t> «</a:t>
            </a:r>
            <a:r>
              <a:rPr lang="ru-RU" dirty="0" err="1"/>
              <a:t>Росатом</a:t>
            </a:r>
            <a:r>
              <a:rPr lang="ru-RU" dirty="0"/>
              <a:t>»</a:t>
            </a:r>
          </a:p>
          <a:p>
            <a:pPr lvl="1"/>
            <a:r>
              <a:rPr lang="ru-RU" dirty="0"/>
              <a:t>Информационная безопасность</a:t>
            </a:r>
          </a:p>
          <a:p>
            <a:pPr lvl="1"/>
            <a:r>
              <a:rPr lang="ru-RU" dirty="0"/>
              <a:t>ИТ-инфраструктура</a:t>
            </a:r>
          </a:p>
          <a:p>
            <a:pPr lvl="1"/>
            <a:r>
              <a:rPr lang="ru-RU" dirty="0"/>
              <a:t>Роботизация и искусственный интеллект</a:t>
            </a:r>
          </a:p>
          <a:p>
            <a:pPr lvl="1"/>
            <a:r>
              <a:rPr lang="ru-RU" dirty="0"/>
              <a:t>Корпоративные и локальные ИТ-системы</a:t>
            </a:r>
          </a:p>
          <a:p>
            <a:pPr lvl="1"/>
            <a:r>
              <a:rPr lang="ru-RU" dirty="0" err="1"/>
              <a:t>Импортозамещение</a:t>
            </a:r>
            <a:endParaRPr lang="ru-RU" dirty="0"/>
          </a:p>
          <a:p>
            <a:r>
              <a:rPr lang="ru-RU" dirty="0"/>
              <a:t>Управление персоналом</a:t>
            </a:r>
          </a:p>
          <a:p>
            <a:r>
              <a:rPr lang="ru-RU" dirty="0"/>
              <a:t>Бухгалтерский и налоговый учёт</a:t>
            </a:r>
          </a:p>
          <a:p>
            <a:r>
              <a:rPr lang="ru-RU" dirty="0"/>
              <a:t>Экономические, инвестиционные сервисы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5500" y="2856714"/>
            <a:ext cx="3855681" cy="16470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898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070C0"/>
                </a:solidFill>
              </a:rPr>
              <a:t>Описание проблемы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87900" y="2169318"/>
            <a:ext cx="6553200" cy="4097338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ru-RU" dirty="0"/>
              <a:t>На предприятии в различных подразделениях ведутся ежедневно рапорты по различным производственным показателям. </a:t>
            </a:r>
          </a:p>
          <a:p>
            <a:r>
              <a:rPr lang="ru-RU" dirty="0"/>
              <a:t>Рапорты ведутся в ручную на бумаге.</a:t>
            </a:r>
          </a:p>
          <a:p>
            <a:r>
              <a:rPr lang="ru-RU" dirty="0"/>
              <a:t>Передача информации между участниками процесса по телефону либо электронной почте. </a:t>
            </a:r>
          </a:p>
          <a:p>
            <a:r>
              <a:rPr lang="ru-RU" dirty="0"/>
              <a:t>Это все неудобно, трудоемко и затруднен оперативный доступ к информации (особенной за предыдущие периоды).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25500" y="2169318"/>
            <a:ext cx="3657600" cy="36576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ФОТО описывающее трагедию в целом</a:t>
            </a:r>
            <a:r>
              <a:rPr lang="en-US" dirty="0"/>
              <a:t>, </a:t>
            </a:r>
            <a:r>
              <a:rPr lang="ru-RU" dirty="0"/>
              <a:t>т.е. символ ассоциирующийся с данным кейсом (документ, сервер, БД, механизм привода и т.д.)</a:t>
            </a:r>
          </a:p>
        </p:txBody>
      </p:sp>
    </p:spTree>
    <p:extLst>
      <p:ext uri="{BB962C8B-B14F-4D97-AF65-F5344CB8AC3E}">
        <p14:creationId xmlns:p14="http://schemas.microsoft.com/office/powerpoint/2010/main" val="100442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070C0"/>
                </a:solidFill>
              </a:rPr>
              <a:t>Входные требования к решению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60400" y="2169318"/>
            <a:ext cx="10896600" cy="4097338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ru-RU" dirty="0"/>
              <a:t>Создать информационную систему для коллективной работы в рапортах по ключевым показателям производства</a:t>
            </a:r>
            <a:r>
              <a:rPr lang="en-US" dirty="0"/>
              <a:t> (</a:t>
            </a:r>
            <a:r>
              <a:rPr lang="ru-RU" dirty="0"/>
              <a:t>атрибутам</a:t>
            </a:r>
            <a:r>
              <a:rPr lang="en-US" dirty="0"/>
              <a:t>)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808" y="3764686"/>
            <a:ext cx="2501970" cy="250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516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070C0"/>
                </a:solidFill>
              </a:rPr>
              <a:t>Что должны получить в результате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3100" y="2169318"/>
            <a:ext cx="9099550" cy="4097338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Возможности системы: </a:t>
            </a:r>
          </a:p>
          <a:p>
            <a:r>
              <a:rPr lang="ru-RU" dirty="0"/>
              <a:t>Табличная форма представления данных  </a:t>
            </a:r>
          </a:p>
          <a:p>
            <a:r>
              <a:rPr lang="ru-RU" dirty="0"/>
              <a:t>Сохранение истории по всем атрибутам </a:t>
            </a:r>
          </a:p>
          <a:p>
            <a:r>
              <a:rPr lang="ru-RU" dirty="0"/>
              <a:t>Хранение и гибкое изменение типа атрибутов </a:t>
            </a:r>
          </a:p>
          <a:p>
            <a:r>
              <a:rPr lang="ru-RU" dirty="0"/>
              <a:t>Возможность добавления новых атрибутов </a:t>
            </a:r>
          </a:p>
          <a:p>
            <a:r>
              <a:rPr lang="ru-RU" dirty="0"/>
              <a:t>Привязка атрибутов к структуре подразделения  </a:t>
            </a:r>
          </a:p>
          <a:p>
            <a:r>
              <a:rPr lang="ru-RU" dirty="0"/>
              <a:t>Возможность создания групп атрибутов </a:t>
            </a:r>
          </a:p>
          <a:p>
            <a:r>
              <a:rPr lang="ru-RU" dirty="0"/>
              <a:t>Ведение атрибутов по сменам (за смену фиксируется только одно значение атрибута) </a:t>
            </a:r>
          </a:p>
          <a:p>
            <a:r>
              <a:rPr lang="ru-RU" dirty="0"/>
              <a:t>Ролевая модель </a:t>
            </a:r>
          </a:p>
          <a:p>
            <a:r>
              <a:rPr lang="ru-RU" dirty="0"/>
              <a:t>Получение отчетов, графиков, печатных форм документов на основании, хранящихся данных</a:t>
            </a:r>
          </a:p>
          <a:p>
            <a:r>
              <a:rPr lang="ru-RU" dirty="0"/>
              <a:t>Возможность настраивать количество смен </a:t>
            </a:r>
          </a:p>
          <a:p>
            <a:r>
              <a:rPr lang="ru-RU" dirty="0"/>
              <a:t>Фиксация передачи смены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78" y="3754877"/>
            <a:ext cx="2317226" cy="231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621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070C0"/>
                </a:solidFill>
              </a:rPr>
              <a:t>Дополнительные</a:t>
            </a:r>
            <a:r>
              <a:rPr lang="ru-RU" dirty="0"/>
              <a:t> </a:t>
            </a:r>
            <a:r>
              <a:rPr lang="ru-RU" b="1" dirty="0">
                <a:solidFill>
                  <a:srgbClr val="0070C0"/>
                </a:solidFill>
              </a:rPr>
              <a:t>данные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Справочники: </a:t>
            </a:r>
          </a:p>
          <a:p>
            <a:r>
              <a:rPr lang="ru-RU" dirty="0"/>
              <a:t>Пользователи </a:t>
            </a:r>
          </a:p>
          <a:p>
            <a:r>
              <a:rPr lang="ru-RU" dirty="0"/>
              <a:t>Роли </a:t>
            </a:r>
          </a:p>
          <a:p>
            <a:r>
              <a:rPr lang="ru-RU" dirty="0"/>
              <a:t>Группы атрибутов </a:t>
            </a:r>
          </a:p>
          <a:p>
            <a:r>
              <a:rPr lang="ru-RU" dirty="0"/>
              <a:t>Атрибуты  </a:t>
            </a:r>
          </a:p>
          <a:p>
            <a:r>
              <a:rPr lang="ru-RU" dirty="0"/>
              <a:t>Тип значения атрибута </a:t>
            </a:r>
          </a:p>
          <a:p>
            <a:r>
              <a:rPr lang="ru-RU" dirty="0"/>
              <a:t>Структура подразделения (участки и т.д.)</a:t>
            </a:r>
          </a:p>
          <a:p>
            <a:r>
              <a:rPr lang="ru-RU" dirty="0"/>
              <a:t>Смены </a:t>
            </a:r>
          </a:p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4876800" cy="43513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Отчеты:</a:t>
            </a:r>
          </a:p>
          <a:p>
            <a:r>
              <a:rPr lang="ru-RU" dirty="0"/>
              <a:t>График изменения выбранного числового параметра за выбранный период (например месяц)</a:t>
            </a:r>
          </a:p>
        </p:txBody>
      </p:sp>
    </p:spTree>
    <p:extLst>
      <p:ext uri="{BB962C8B-B14F-4D97-AF65-F5344CB8AC3E}">
        <p14:creationId xmlns:p14="http://schemas.microsoft.com/office/powerpoint/2010/main" val="143920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0070C0"/>
                </a:solidFill>
              </a:rPr>
              <a:t>Критерии оценки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3100" y="2169318"/>
            <a:ext cx="8975725" cy="4097338"/>
          </a:xfr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Нижний уровень (обязательно)</a:t>
            </a:r>
          </a:p>
          <a:p>
            <a:r>
              <a:rPr lang="ru-RU" dirty="0"/>
              <a:t>Ведение атрибутов</a:t>
            </a:r>
          </a:p>
          <a:p>
            <a:r>
              <a:rPr lang="ru-RU" dirty="0"/>
              <a:t>Ведение значений атрибутов</a:t>
            </a:r>
          </a:p>
          <a:p>
            <a:pPr marL="0" indent="0">
              <a:buNone/>
            </a:pPr>
            <a:r>
              <a:rPr lang="ru-RU" dirty="0"/>
              <a:t>Средний уровень (дополнительно)</a:t>
            </a:r>
          </a:p>
          <a:p>
            <a:r>
              <a:rPr lang="ru-RU" dirty="0"/>
              <a:t>Настройка количества смен</a:t>
            </a:r>
          </a:p>
          <a:p>
            <a:r>
              <a:rPr lang="ru-RU" dirty="0"/>
              <a:t>Формирование графика за месяц</a:t>
            </a:r>
          </a:p>
          <a:p>
            <a:pPr marL="0" indent="0">
              <a:buNone/>
            </a:pPr>
            <a:r>
              <a:rPr lang="ru-RU" dirty="0"/>
              <a:t>Высший уровень (дополнительно)</a:t>
            </a:r>
          </a:p>
          <a:p>
            <a:r>
              <a:rPr lang="ru-RU" dirty="0"/>
              <a:t>Фиксация передачи смены </a:t>
            </a:r>
          </a:p>
          <a:p>
            <a:r>
              <a:rPr lang="ru-RU" dirty="0"/>
              <a:t>Ролевая модель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578" y="3754877"/>
            <a:ext cx="2317226" cy="231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3959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294</Words>
  <Application>Microsoft Office PowerPoint</Application>
  <PresentationFormat>Широкоэкранный</PresentationFormat>
  <Paragraphs>55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Кейс #1 Производственный рапорт</vt:lpstr>
      <vt:lpstr>Кейсодержатель АО «Гринатом»</vt:lpstr>
      <vt:lpstr>Описание проблемы</vt:lpstr>
      <vt:lpstr>Входные требования к решению</vt:lpstr>
      <vt:lpstr>Что должны получить в результате</vt:lpstr>
      <vt:lpstr>Дополнительные данные</vt:lpstr>
      <vt:lpstr>Критерии оценки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ACTOR</dc:creator>
  <cp:lastModifiedBy>root</cp:lastModifiedBy>
  <cp:revision>17</cp:revision>
  <dcterms:created xsi:type="dcterms:W3CDTF">2024-11-12T10:03:21Z</dcterms:created>
  <dcterms:modified xsi:type="dcterms:W3CDTF">2025-10-16T11:16:42Z</dcterms:modified>
</cp:coreProperties>
</file>